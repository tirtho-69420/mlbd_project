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Teko"/>
      <p:regular r:id="rId19"/>
      <p:bold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eQ/Vk+lTsmvAtgiBCpBfGArqh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eko-bold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Tek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2139588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000"/>
              <a:t>Machine Learning with Big data Project </a:t>
            </a:r>
            <a:br>
              <a:rPr lang="en" sz="2000"/>
            </a:br>
            <a:br>
              <a:rPr lang="en" sz="2000"/>
            </a:br>
            <a:r>
              <a:rPr lang="en" sz="2000">
                <a:latin typeface="Teko"/>
                <a:ea typeface="Teko"/>
                <a:cs typeface="Teko"/>
                <a:sym typeface="Teko"/>
              </a:rPr>
              <a:t>Topic: Large-Scale Sentiment Analysis of Social Media Data Using Apache Spark</a:t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000">
                <a:latin typeface="Teko"/>
                <a:ea typeface="Teko"/>
                <a:cs typeface="Teko"/>
                <a:sym typeface="Teko"/>
              </a:rPr>
              <a:t>Github Link: https://github.com/Tirtho-69420/MLBD_Project</a:t>
            </a:r>
            <a:endParaRPr sz="2000"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423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80"/>
              <a:t>Goutam Bhattacharya (M25DE1029)</a:t>
            </a:r>
            <a:br>
              <a:rPr lang="en" sz="1680"/>
            </a:br>
            <a:r>
              <a:rPr lang="en" sz="1680"/>
              <a:t>Abhirup Ghosh (M25DE1073)</a:t>
            </a:r>
            <a:endParaRPr sz="1680"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2937" y="45725"/>
            <a:ext cx="1898125" cy="209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Project Overview</a:t>
            </a:r>
            <a:endParaRPr sz="2000"/>
          </a:p>
        </p:txBody>
      </p:sp>
      <p:sp>
        <p:nvSpPr>
          <p:cNvPr id="62" name="Google Shape;62;p2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Dataset: Sentiment140 (1.6 Million Tweets)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Large-Scale Data:</a:t>
            </a:r>
            <a:r>
              <a:rPr lang="en" sz="1100">
                <a:solidFill>
                  <a:schemeClr val="dk1"/>
                </a:solidFill>
              </a:rPr>
              <a:t> Contains 1.6 million tweets, providing a massive corpus that allows models to identify complex patterns and nuances in social media language.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Automated Polarity:</a:t>
            </a:r>
            <a:r>
              <a:rPr lang="en" sz="1100">
                <a:solidFill>
                  <a:schemeClr val="dk1"/>
                </a:solidFill>
              </a:rPr>
              <a:t> Tweets were automatically labeled using emoticons as a form of "distant supervision" to denote positive and negative sentiment.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Engine: Apache Spark 4.1.1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Distributed Processing:</a:t>
            </a:r>
            <a:r>
              <a:rPr lang="en" sz="1100">
                <a:solidFill>
                  <a:schemeClr val="dk1"/>
                </a:solidFill>
              </a:rPr>
              <a:t> Enables parallel computing across multiple cores, essential for handling millions of records that exceed the memory limits of standard single-node libraries.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Integrated MLlib:</a:t>
            </a:r>
            <a:r>
              <a:rPr lang="en" sz="1100">
                <a:solidFill>
                  <a:schemeClr val="dk1"/>
                </a:solidFill>
              </a:rPr>
              <a:t> Features a native machine learning library optimized for high-performance, distributed classification and unified pipeline management.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Objective: Binary Sentiment Classification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Scalable Vectorization:</a:t>
            </a:r>
            <a:r>
              <a:rPr lang="en" sz="1100">
                <a:solidFill>
                  <a:schemeClr val="dk1"/>
                </a:solidFill>
              </a:rPr>
              <a:t> Utilizes high-performance computing to vectorize and categorize massive text streams into binary results (Positive/Negative) in seconds.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b="1" lang="en" sz="1100">
                <a:solidFill>
                  <a:schemeClr val="dk1"/>
                </a:solidFill>
              </a:rPr>
              <a:t>Algorithmic Comparison:</a:t>
            </a:r>
            <a:r>
              <a:rPr lang="en" sz="1100">
                <a:solidFill>
                  <a:schemeClr val="dk1"/>
                </a:solidFill>
              </a:rPr>
              <a:t> Evaluates the accuracy and efficiency of different distributed algorithms—Logistic Regression, Naïve Bayes, and Random Forest—on high-dimensional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60167"/>
              <a:buNone/>
            </a:pPr>
            <a:r>
              <a:t/>
            </a:r>
            <a:endParaRPr sz="1680"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System Architecture &amp; Rationale</a:t>
            </a:r>
            <a:endParaRPr sz="2000"/>
          </a:p>
        </p:txBody>
      </p:sp>
      <p:sp>
        <p:nvSpPr>
          <p:cNvPr id="69" name="Google Shape;69;p3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Challenge: Processing Capacity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Standard single-node libraries often encounter "Memory Errors" when attempting to vectorize and store millions of high-dimensional text rows in a single machine's RAM.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Processing 1.6 million records on a single CPU core results in bottlenecked execution times, making real-time analysis of massive social media streams impossible.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Solution: Spark's Distributed Architecture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Spark enables parallel data transformations across multiple CPU cores or clusters, allowing the 1.6 million tweets to be processed in smaller, manageable chunks.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By performing computations in-memory rather than on-disk, Spark can execute complex text-cleaning and training tasks up to 100 times faster than older frameworks.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Stack: PySpark SQL &amp; MLlib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PySpark SQL provides a robust DataFrame API for high-performance data handling, including the use of Regex for cleaning URLs and special characters from raw text.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Spark’s MLlib is utilized for its native, distributed classification estimators, specifically optimized to handle the sparse, high-dimensional feature vectors produced during text analysis.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Data Infrastructure &amp; Ingestion</a:t>
            </a:r>
            <a:endParaRPr sz="2000"/>
          </a:p>
        </p:txBody>
      </p:sp>
      <p:sp>
        <p:nvSpPr>
          <p:cNvPr id="76" name="Google Shape;76;p4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SparkSession Configuration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system initializes a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SparkSession</a:t>
            </a:r>
            <a:r>
              <a:rPr lang="en" sz="1100">
                <a:solidFill>
                  <a:schemeClr val="dk1"/>
                </a:solidFill>
              </a:rPr>
              <a:t> specifically named "SentimentAnalysis" to manage all distributed computing resources.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Log levels are set to "ERROR" to suppress non-critical warnings, ensuring a clean and focused execution output during large-scale processing.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Automated Data Ingestion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dataset is ingested from a CSV source using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inferSchema=True</a:t>
            </a:r>
            <a:r>
              <a:rPr lang="en" sz="1100">
                <a:solidFill>
                  <a:schemeClr val="dk1"/>
                </a:solidFill>
              </a:rPr>
              <a:t> parameter to automatically identify data types for numeric IDs and sentiment scores.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header=False</a:t>
            </a:r>
            <a:r>
              <a:rPr lang="en" sz="1100">
                <a:solidFill>
                  <a:schemeClr val="dk1"/>
                </a:solidFill>
              </a:rPr>
              <a:t> is specified during the read process to ensure that the raw data rows are not incorrectly treated as column titles.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Dataset Schema Structure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raw DataFrame is transformed to include a structured 6-column schema: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sentiment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query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structural definition allows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pyspark.sql</a:t>
            </a:r>
            <a:r>
              <a:rPr lang="en" sz="1100">
                <a:solidFill>
                  <a:schemeClr val="dk1"/>
                </a:solidFill>
              </a:rPr>
              <a:t> API to perform targeted operations, such as filtering and cleaning, on specific columns like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sentiment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Data Preprocessing &amp; Transformation</a:t>
            </a:r>
            <a:endParaRPr sz="2000"/>
          </a:p>
        </p:txBody>
      </p:sp>
      <p:sp>
        <p:nvSpPr>
          <p:cNvPr id="83" name="Google Shape;83;p5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Text Normalization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system performs case-folding on all tweet content using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pyspark.sql.functions.lower</a:t>
            </a:r>
            <a:r>
              <a:rPr lang="en" sz="1100">
                <a:solidFill>
                  <a:schemeClr val="dk1"/>
                </a:solidFill>
              </a:rPr>
              <a:t> to ensure the model treats words like "Happy" and "happy" identically.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normalization step reduces feature sparsity and ensures consistency across the entire 1.6 million record corpus.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Noise Reduction via Regex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Automated noise reduction uses regular expressions (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http\S+</a:t>
            </a:r>
            <a:r>
              <a:rPr lang="en" sz="1100">
                <a:solidFill>
                  <a:schemeClr val="dk1"/>
                </a:solidFill>
              </a:rPr>
              <a:t>) to strip all URLs and hyperlinks that do not contribute to emotional sentiment.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Non-alphabetical characters and special symbols are removed to focus the machine learning models strictly on semantic word patterns.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Binary Label Mapping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original dataset markers of 0 (Negative) and 4 (Positive) are remapped to a binary 0/1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n" sz="1100">
                <a:solidFill>
                  <a:schemeClr val="dk1"/>
                </a:solidFill>
              </a:rPr>
              <a:t> column.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transformation is essential for compatibility with Spark MLlib’s binary classification evaluators and standard machine learning algorithms.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Feature Engineering &amp; Extraction</a:t>
            </a:r>
            <a:endParaRPr sz="2000"/>
          </a:p>
        </p:txBody>
      </p:sp>
      <p:sp>
        <p:nvSpPr>
          <p:cNvPr id="90" name="Google Shape;90;p6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Text Tokenization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Tokenizer</a:t>
            </a:r>
            <a:r>
              <a:rPr lang="en" sz="1100">
                <a:solidFill>
                  <a:schemeClr val="dk1"/>
                </a:solidFill>
              </a:rPr>
              <a:t> stage segments raw tweet strings into individual word tokens by splitting on whitespace.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converts unstructured text into an array-like structure, enabling the system to perform word-level filtering and analysis.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Stopword Filtering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StopWordsRemover</a:t>
            </a:r>
            <a:r>
              <a:rPr lang="en" sz="1100">
                <a:solidFill>
                  <a:schemeClr val="dk1"/>
                </a:solidFill>
              </a:rPr>
              <a:t> is applied to strip high-frequency, low-information words like "the," "is," and "and".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By removing these linguistic "noise" words, the model can focus more heavily on unique terms that actually carry emotional weight and sentiment.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Numeric Vectorization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CountVectorizer</a:t>
            </a:r>
            <a:r>
              <a:rPr lang="en" sz="1100">
                <a:solidFill>
                  <a:schemeClr val="dk1"/>
                </a:solidFill>
              </a:rPr>
              <a:t> transforms the filtered word arrays into sparse numeric vectors representing specific word counts.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These numeric representations are the final input for the Spark MLlib algorithms, mapping human language into a format the machine learning models can mathematically process.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Visualisation Of Data Post Processing</a:t>
            </a:r>
            <a:endParaRPr sz="2000"/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88100"/>
            <a:ext cx="3939376" cy="290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7238" y="2170612"/>
            <a:ext cx="3822262" cy="27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Logistic Regression (LR)</a:t>
            </a:r>
            <a:endParaRPr sz="2000"/>
          </a:p>
        </p:txBody>
      </p:sp>
      <p:sp>
        <p:nvSpPr>
          <p:cNvPr id="105" name="Google Shape;105;p8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Classification Mechanism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Logistic Regression acts as a linear discriminative model that predicts the probability of a tweet belonging to the positive or negative class based on the frequency of word tokens.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It is particularly effective for large-scale text analysis because it handles high-dimensional, sparse feature vectors with high computational efficiency and clear interpretability.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Pipeline-Based Implementation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classifier is integrated into a Spark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Pipeline</a:t>
            </a:r>
            <a:r>
              <a:rPr lang="en" sz="1100">
                <a:solidFill>
                  <a:schemeClr val="dk1"/>
                </a:solidFill>
              </a:rPr>
              <a:t>, which seamlessly links the tokenizer, stopword remover, and vectorizer stages to the final learning algorithm.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This architecture ensures that all feature engineering transformations are applied identically to both the 1.28 million training records and the held-out test data, preventing data leakage.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Training &amp; Dataset Details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model was trained on a randomized 80% split of the 1.6 million tweets, representing approximately 1.28 million data points of diverse social media sentiment.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 fixed seed was utilized during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randomSplit</a:t>
            </a:r>
            <a:r>
              <a:rPr lang="en" sz="1100">
                <a:solidFill>
                  <a:schemeClr val="dk1"/>
                </a:solidFill>
              </a:rPr>
              <a:t> process to ensure the reproducibility of the training environment and the consistency of performance metrics across different runs.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Predictive Performance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model achieved a significant accuracy of 79.9%, proving that a linear approach can effectively capture the underlying sentiment patterns in millions of short-form messages.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Post-training validation on sample phrases showed high precision in distinguishing polarity, correctly identifying sentiments in both enthusiastic reviews and highly negative complaints.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Naïve Bayes Analysis</a:t>
            </a:r>
            <a:endParaRPr sz="2000"/>
          </a:p>
        </p:txBody>
      </p:sp>
      <p:sp>
        <p:nvSpPr>
          <p:cNvPr id="112" name="Google Shape;112;p9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dk1"/>
                </a:solidFill>
              </a:rPr>
              <a:t>Heading 1: Probabilistic Mechanism</a:t>
            </a:r>
            <a:endParaRPr b="1"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Naïve Bayes is a probabilistic classifier based on Bayes' Theorem that assumes "naïve" independence between every pair of features (words) in the dataset.</a:t>
            </a:r>
            <a:endParaRPr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By calculating the conditional probability of each word appearing in a positive versus negative tweet, it determines the most likely sentiment for the entire message.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dk1"/>
                </a:solidFill>
              </a:rPr>
              <a:t>Heading 2: Implementation Strategy</a:t>
            </a:r>
            <a:endParaRPr b="1"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system utilized the native Spark MLlib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NaiveBayes</a:t>
            </a:r>
            <a:r>
              <a:rPr lang="en" sz="1100">
                <a:solidFill>
                  <a:schemeClr val="dk1"/>
                </a:solidFill>
              </a:rPr>
              <a:t> estimator, integrating it directly into the established feature engineering pipeline.</a:t>
            </a:r>
            <a:endParaRPr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Using the same pipeline as the baseline model allowed for a direct, controlled comparison of how different mathematical approaches handle identical feature vectors.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dk1"/>
                </a:solidFill>
              </a:rPr>
              <a:t>Heading 3: Computational Efficiency</a:t>
            </a:r>
            <a:endParaRPr b="1"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This algorithm is exceptionally efficient for high-dimensional text data because it requires a single pass over the 1.6 million records to calculate word frequencies.</a:t>
            </a:r>
            <a:endParaRPr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model significantly reduces the CPU overhead and training time compared to more complex iterative classifiers, making it ideal for large-scale social media analysis.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dk1"/>
                </a:solidFill>
              </a:rPr>
              <a:t>Heading 4: Performance Leader</a:t>
            </a:r>
            <a:endParaRPr b="1"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Naïve Bayes delivered the highest accuracy in this project, reaching </a:t>
            </a:r>
            <a:r>
              <a:rPr b="1" lang="en" sz="1100">
                <a:solidFill>
                  <a:schemeClr val="dk1"/>
                </a:solidFill>
              </a:rPr>
              <a:t>84.9%</a:t>
            </a:r>
            <a:r>
              <a:rPr lang="en" sz="1100">
                <a:solidFill>
                  <a:schemeClr val="dk1"/>
                </a:solidFill>
              </a:rPr>
              <a:t> on the 20% held-out test set.</a:t>
            </a:r>
            <a:endParaRPr sz="1100">
              <a:solidFill>
                <a:schemeClr val="dk1"/>
              </a:solidFill>
            </a:endParaRPr>
          </a:p>
          <a:p>
            <a:pPr indent="-2827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This performance indicates that the "naïve" independence assumption is highly effective for large-scale sentiment tasks where word presence is a strong indicator of overall emotional tone.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Random Forest Analysis</a:t>
            </a:r>
            <a:endParaRPr sz="2000"/>
          </a:p>
        </p:txBody>
      </p:sp>
      <p:sp>
        <p:nvSpPr>
          <p:cNvPr id="119" name="Google Shape;119;p10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Ensemble Mechanism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Random Forest is an ensemble learning method that constructs a multitude of decision trees during training to enhance predictive performance.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This specific implementation utilized 20 individual decision trees to aggregate results and reduce overall model variance.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Robustness and Bagging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model effectively handles non-linear relationships within the data by combining the outputs of multiple base learners.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It utilizes bagging (bootstrap aggregating) to train each tree on a random subset of data, which significantly reduces the risk of overfitting.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Comparative Performance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While inherently robust, the model yielded a lower accuracy of 65.8% compared to the baseline linear and probabilistic models.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lower performance suggests that tree-based methods may be less effective when processing the high-dimensional, sparse feature vectors typical of large-scale text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dk1"/>
                </a:solidFill>
              </a:rPr>
              <a:t>Evaluation Context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Despite lower accuracy, this approach provides valuable insights into the complexity of the dataset by testing how non-linear models interpret social media sentiment.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Final Performance Summary &amp; Conclusion</a:t>
            </a:r>
            <a:endParaRPr sz="2000"/>
          </a:p>
        </p:txBody>
      </p:sp>
      <p:sp>
        <p:nvSpPr>
          <p:cNvPr id="126" name="Google Shape;126;p11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Metrics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project utilized accuracy as the primary metric for all three models to determine the percentage of correctly predicted sentiments across the test set.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Comparative Performance Table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Naïve Bayes</a:t>
            </a:r>
            <a:r>
              <a:rPr lang="en" sz="1100">
                <a:solidFill>
                  <a:schemeClr val="dk1"/>
                </a:solidFill>
              </a:rPr>
              <a:t>: Achieved the highest accuracy at </a:t>
            </a:r>
            <a:r>
              <a:rPr b="1" lang="en" sz="1100">
                <a:solidFill>
                  <a:schemeClr val="dk1"/>
                </a:solidFill>
              </a:rPr>
              <a:t>84.9%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Logistic Regression</a:t>
            </a:r>
            <a:r>
              <a:rPr lang="en" sz="1100">
                <a:solidFill>
                  <a:schemeClr val="dk1"/>
                </a:solidFill>
              </a:rPr>
              <a:t>: Delivered solid baseline performance with an accuracy of </a:t>
            </a:r>
            <a:r>
              <a:rPr b="1" lang="en" sz="1100">
                <a:solidFill>
                  <a:schemeClr val="dk1"/>
                </a:solidFill>
              </a:rPr>
              <a:t>79.9%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Random Forest</a:t>
            </a:r>
            <a:r>
              <a:rPr lang="en" sz="1100">
                <a:solidFill>
                  <a:schemeClr val="dk1"/>
                </a:solidFill>
              </a:rPr>
              <a:t>: While robust, this ensemble method yielded a lower accuracy of </a:t>
            </a:r>
            <a:r>
              <a:rPr b="1" lang="en" sz="1100">
                <a:solidFill>
                  <a:schemeClr val="dk1"/>
                </a:solidFill>
              </a:rPr>
              <a:t>65.8%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Technical Conclusion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high accuracy of the Naïve Bayes model suggests that probabilistic approaches are highly effective for high-dimensional text data where word presence is a strong sentiment indicator.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lower performance of the Random Forest model highlights the challenge of using tree-based ensemble methods on sparse feature vectors produced from millions of short-form tweets.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Contribution of Team Members</a:t>
            </a:r>
            <a:endParaRPr sz="2000"/>
          </a:p>
        </p:txBody>
      </p:sp>
      <p:sp>
        <p:nvSpPr>
          <p:cNvPr id="133" name="Google Shape;133;p12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This project was carried out collaboratively by </a:t>
            </a:r>
            <a:r>
              <a:rPr b="1" lang="en" sz="1100"/>
              <a:t>Goutam</a:t>
            </a:r>
            <a:r>
              <a:rPr lang="en" sz="1100"/>
              <a:t> and </a:t>
            </a:r>
            <a:r>
              <a:rPr b="1" lang="en" sz="1100"/>
              <a:t>Abhirup</a:t>
            </a:r>
            <a:r>
              <a:rPr lang="en" sz="1100"/>
              <a:t>, with an equal contribution of </a:t>
            </a:r>
            <a:r>
              <a:rPr b="1" lang="en" sz="1100"/>
              <a:t>50% each</a:t>
            </a:r>
            <a:r>
              <a:rPr lang="en" sz="1100"/>
              <a:t>. The responsibilities were distributed as follows: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>
                <a:solidFill>
                  <a:schemeClr val="dk1"/>
                </a:solidFill>
              </a:rPr>
              <a:t>Contribution by Goutam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Technical Conclusion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</a:rPr>
              <a:t>Designed the overall project architecture and workflow.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Set up the </a:t>
            </a:r>
            <a:r>
              <a:rPr b="1" lang="en" sz="1100"/>
              <a:t>Apache Spark environment</a:t>
            </a:r>
            <a:r>
              <a:rPr lang="en" sz="1100"/>
              <a:t> and handled large-scale data processing.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Implemented </a:t>
            </a:r>
            <a:r>
              <a:rPr b="1" lang="en" sz="1100"/>
              <a:t>data loading and preprocessing steps</a:t>
            </a:r>
            <a:r>
              <a:rPr lang="en" sz="1100"/>
              <a:t>, including text cleaning and label transformation.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Developed and trained the </a:t>
            </a:r>
            <a:r>
              <a:rPr b="1" lang="en" sz="1100"/>
              <a:t>Logistic Regression model</a:t>
            </a:r>
            <a:r>
              <a:rPr lang="en" sz="1100"/>
              <a:t>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Performed </a:t>
            </a:r>
            <a:r>
              <a:rPr b="1" lang="en" sz="1100"/>
              <a:t>model evaluation</a:t>
            </a:r>
            <a:r>
              <a:rPr lang="en" sz="1100"/>
              <a:t> and accuracy analysis.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Managed </a:t>
            </a:r>
            <a:r>
              <a:rPr b="1" lang="en" sz="1100"/>
              <a:t>model saving and pipeline structuring</a:t>
            </a:r>
            <a:r>
              <a:rPr lang="en" sz="1100"/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34" name="Google Shape;1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ctrTitle"/>
          </p:nvPr>
        </p:nvSpPr>
        <p:spPr>
          <a:xfrm>
            <a:off x="311700" y="876547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9"/>
              <a:buNone/>
            </a:pPr>
            <a:r>
              <a:rPr lang="en" sz="2000"/>
              <a:t>Contribution of Team Members</a:t>
            </a:r>
            <a:endParaRPr sz="2000"/>
          </a:p>
        </p:txBody>
      </p:sp>
      <p:sp>
        <p:nvSpPr>
          <p:cNvPr id="140" name="Google Shape;140;p13"/>
          <p:cNvSpPr txBox="1"/>
          <p:nvPr>
            <p:ph idx="1" type="subTitle"/>
          </p:nvPr>
        </p:nvSpPr>
        <p:spPr>
          <a:xfrm>
            <a:off x="311700" y="1347900"/>
            <a:ext cx="8520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This project was carried out collaboratively by </a:t>
            </a:r>
            <a:r>
              <a:rPr b="1" lang="en" sz="1100"/>
              <a:t>Goutam</a:t>
            </a:r>
            <a:r>
              <a:rPr lang="en" sz="1100"/>
              <a:t> and </a:t>
            </a:r>
            <a:r>
              <a:rPr b="1" lang="en" sz="1100"/>
              <a:t>Abhirup</a:t>
            </a:r>
            <a:r>
              <a:rPr lang="en" sz="1100"/>
              <a:t>, with an equal contribution of </a:t>
            </a:r>
            <a:r>
              <a:rPr b="1" lang="en" sz="1100"/>
              <a:t>50% each</a:t>
            </a:r>
            <a:r>
              <a:rPr lang="en" sz="1100"/>
              <a:t>. The responsibilities were distributed as follows: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>
                <a:solidFill>
                  <a:schemeClr val="dk1"/>
                </a:solidFill>
              </a:rPr>
              <a:t>Contribution by Abhirup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Technical Conclusion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/>
              <a:t>Implemented </a:t>
            </a:r>
            <a:r>
              <a:rPr b="1" lang="en" sz="1100"/>
              <a:t>feature engineering techniques</a:t>
            </a:r>
            <a:r>
              <a:rPr lang="en" sz="1100"/>
              <a:t> such as Tokenization, StopWords removal, and CountVectorization.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Developed and trained </a:t>
            </a:r>
            <a:r>
              <a:rPr b="1" lang="en" sz="1100"/>
              <a:t>Naïve Bayes and Random Forest models</a:t>
            </a:r>
            <a:r>
              <a:rPr lang="en" sz="1100"/>
              <a:t>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Handled </a:t>
            </a:r>
            <a:r>
              <a:rPr b="1" lang="en" sz="1100"/>
              <a:t>probability vector correction using UDFs</a:t>
            </a:r>
            <a:r>
              <a:rPr lang="en" sz="1100"/>
              <a:t>..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Performed </a:t>
            </a:r>
            <a:r>
              <a:rPr b="1" lang="en" sz="1100"/>
              <a:t>data visualization</a:t>
            </a:r>
            <a:r>
              <a:rPr lang="en" sz="1100"/>
              <a:t>, including sentiment distribution and word frequency analysis. 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Conducted </a:t>
            </a:r>
            <a:r>
              <a:rPr b="1" lang="en" sz="1100"/>
              <a:t>bigram analysis and insights generation</a:t>
            </a:r>
            <a:r>
              <a:rPr lang="en" sz="1100"/>
              <a:t>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Assisted in </a:t>
            </a:r>
            <a:r>
              <a:rPr b="1" lang="en" sz="1100"/>
              <a:t>documentation and report preparation</a:t>
            </a:r>
            <a:r>
              <a:rPr lang="en" sz="1100"/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401" y="0"/>
            <a:ext cx="794598" cy="87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